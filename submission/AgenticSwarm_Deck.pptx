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18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26464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39696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52928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6160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92624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05856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19088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0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5552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58784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72016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5248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98480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11712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24944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38176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51408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264640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977872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691104" y="0"/>
            <a:ext cx="9525" cy="9144000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713232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426464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139696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852928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66160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4279392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992624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5705856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19088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132320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845552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8558784"/>
            <a:ext cx="16256000" cy="9525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4048" y="310896"/>
            <a:ext cx="15487904" cy="8522208"/>
          </a:xfrm>
          <a:prstGeom prst="rect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294112" y="310896"/>
            <a:ext cx="5577840" cy="1024128"/>
          </a:xfrm>
          <a:prstGeom prst="rect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68432" y="42976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900" b="0">
                <a:solidFill>
                  <a:srgbClr val="7FB3C8"/>
                </a:solidFill>
                <a:latin typeface="Consolas"/>
              </a:rPr>
              <a:t>Theme A — FINSWARM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8432" y="841248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9A9A"/>
                </a:solidFill>
                <a:latin typeface="Consolas"/>
              </a:rPr>
              <a:t>Agentic Swarm · The AI Boardroom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19659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7FB3C8"/>
                </a:solidFill>
                <a:latin typeface="Consolas"/>
              </a:rPr>
              <a:t>T  E  A 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2377440"/>
            <a:ext cx="1424432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Consolas"/>
              </a:rPr>
              <a:t>404 : FUNDS NOT 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" y="3913632"/>
            <a:ext cx="4206240" cy="28575"/>
          </a:xfrm>
          <a:prstGeom prst="rect">
            <a:avLst/>
          </a:prstGeom>
          <a:solidFill>
            <a:srgbClr val="7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51560" y="4672584"/>
            <a:ext cx="28575" cy="420624"/>
          </a:xfrm>
          <a:prstGeom prst="rect">
            <a:avLst/>
          </a:prstGeom>
          <a:solidFill>
            <a:srgbClr val="D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5880" y="45262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ARAVINDA KANNAN 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25880" y="4946904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Consolas"/>
              </a:rPr>
              <a:t>24BCE1290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6008" y="4544568"/>
            <a:ext cx="1572768" cy="347472"/>
          </a:xfrm>
          <a:prstGeom prst="rect">
            <a:avLst/>
          </a:prstGeom>
          <a:noFill/>
          <a:ln w="12700">
            <a:solidFill>
              <a:srgbClr val="D29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36008" y="4544568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D2994A"/>
                </a:solidFill>
                <a:latin typeface="Consolas"/>
              </a:rPr>
              <a:t>TEAM LEAD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1560" y="5513832"/>
            <a:ext cx="28575" cy="420624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25880" y="536752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egoe UI"/>
              </a:rPr>
              <a:t>TARUN KRISHNA MANIVANNAN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25880" y="5788152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Consolas"/>
              </a:rPr>
              <a:t>24BCE5460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" y="6355080"/>
            <a:ext cx="28575" cy="420624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5880" y="6208776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egoe UI"/>
              </a:rPr>
              <a:t>KRISHNA PRASAD 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5880" y="662940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Consolas"/>
              </a:rPr>
              <a:t>24BCE5519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51560" y="7196328"/>
            <a:ext cx="28575" cy="420624"/>
          </a:xfrm>
          <a:prstGeom prst="rect">
            <a:avLst/>
          </a:prstGeom>
          <a:solidFill>
            <a:srgbClr val="24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25880" y="7050024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egoe UI"/>
              </a:rPr>
              <a:t>ELUKE. SRINITHA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25880" y="747064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Consolas"/>
              </a:rPr>
              <a:t>24BCE1639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4526280"/>
            <a:ext cx="5100320" cy="3108960"/>
          </a:xfrm>
          <a:prstGeom prst="rect">
            <a:avLst/>
          </a:prstGeom>
          <a:noFill/>
          <a:ln w="1143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25328" y="4956048"/>
            <a:ext cx="4323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>
                <a:solidFill>
                  <a:srgbClr val="FFFFFF"/>
                </a:solidFill>
                <a:latin typeface="Segoe UI"/>
              </a:rPr>
              <a:t>A board that convenes</a:t>
            </a:r>
          </a:p>
          <a:p>
            <a:pPr algn="l"/>
            <a:r>
              <a:rPr sz="2500" b="0">
                <a:solidFill>
                  <a:srgbClr val="FFFFFF"/>
                </a:solidFill>
                <a:latin typeface="Segoe UI"/>
              </a:rPr>
              <a:t>on any business problem.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25328" y="6446520"/>
            <a:ext cx="4323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Consolas"/>
              </a:rPr>
              <a:t>Six mandated agents. Hard constraints</a:t>
            </a:r>
          </a:p>
          <a:p>
            <a:pPr algn="l"/>
            <a:r>
              <a:rPr sz="1400" b="0">
                <a:solidFill>
                  <a:srgbClr val="9A9A9A"/>
                </a:solidFill>
                <a:latin typeface="Consolas"/>
              </a:rPr>
              <a:t>checked, not weighted.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